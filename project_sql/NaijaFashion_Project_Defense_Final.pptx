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NS001"/>
    <p:sldId id="268" r:id="rIdNS002"/>
    <p:sldId id="269" r:id="rIdNS003"/>
    <p:sldId id="270" r:id="rIdNS004"/>
    <p:sldId id="271" r:id="rIdNS005"/>
    <p:sldId id="272" r:id="rIdNS006"/>
    <p:sldId id="273" r:id="rIdNS007"/>
    <p:sldId id="274" r:id="rIdNS008"/>
    <p:sldId id="275" r:id="rIdNS009"/>
    <p:sldId id="276" r:id="rIdNS010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NS001" Type="http://schemas.openxmlformats.org/officeDocument/2006/relationships/slide" Target="slides/slide12.xml"/><Relationship Id="rIdNS002" Type="http://schemas.openxmlformats.org/officeDocument/2006/relationships/slide" Target="slides/slide13.xml"/><Relationship Id="rIdNS003" Type="http://schemas.openxmlformats.org/officeDocument/2006/relationships/slide" Target="slides/slide14.xml"/><Relationship Id="rIdNS004" Type="http://schemas.openxmlformats.org/officeDocument/2006/relationships/slide" Target="slides/slide15.xml"/><Relationship Id="rIdNS005" Type="http://schemas.openxmlformats.org/officeDocument/2006/relationships/slide" Target="slides/slide16.xml"/><Relationship Id="rIdNS006" Type="http://schemas.openxmlformats.org/officeDocument/2006/relationships/slide" Target="slides/slide17.xml"/><Relationship Id="rIdNS007" Type="http://schemas.openxmlformats.org/officeDocument/2006/relationships/slide" Target="slides/slide18.xml"/><Relationship Id="rIdNS008" Type="http://schemas.openxmlformats.org/officeDocument/2006/relationships/slide" Target="slides/slide19.xml"/><Relationship Id="rIdNS009" Type="http://schemas.openxmlformats.org/officeDocument/2006/relationships/slide" Target="slides/slide20.xml"/><Relationship Id="rIdNS010" Type="http://schemas.openxmlformats.org/officeDocument/2006/relationships/slide" Target="slides/slide2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Revenue by Payment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(₦)</c:v>
                </c:pt>
              </c:strCache>
            </c:strRef>
          </c:tx>
          <c:spPr>
            <a:solidFill>
              <a:srgbClr val="00A8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Cash on Delivery</c:v>
                  </c:pt>
                  <c:pt idx="1">
                    <c:v>Card</c:v>
                  </c:pt>
                  <c:pt idx="2">
                    <c:v>Transfer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2340000</c:v>
                </c:pt>
                <c:pt idx="1">
                  <c:v>1980000</c:v>
                </c:pt>
                <c:pt idx="2">
                  <c:v>1650000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Order Status Breakdown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6B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E0363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Pending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</c:v>
                </c:pt>
                <c:pt idx="1">
                  <c:v>22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822960"/>
            <a:ext cx="1097280" cy="109728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98755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NaijaFashion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852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Project Defense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42793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DBA &amp; Data Analyst Skills  ·  Lagos Fashion E-Commerce Platform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459028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Database Administrator &amp;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NaijaFashion is a Lagos-based fashion e-commerce startup that has grown 400% in 18 months. As sole DBA and Data Analyst, the objective was to build a production-grade MySQL database capable of handling flash sale traffic, maintaining data integrity automatically, enforcing role-based security, and generating executive-level business insights.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93852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1148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Schema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78308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874520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93852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56032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Catalogued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17720" y="178308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8745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3852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70916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66560" y="178308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874520"/>
            <a:ext cx="502920" cy="502920"/>
          </a:xfrm>
          <a:prstGeom prst="ellipse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938528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685800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Objects Built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" y="3383280"/>
            <a:ext cx="4160520" cy="157276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383280"/>
            <a:ext cx="64008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84632" y="34564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3872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345643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Skills</a:t>
            </a:r>
            <a:endParaRPr lang="en-US" sz="13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3192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" y="39136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indexing (EXPLAIN verified)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33088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9808" y="411480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triggers (AFTER INSERT / UPDATE)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334256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9808" y="43159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stored procedure with ROLLBACK</a:t>
            </a:r>
            <a:endParaRPr lang="en-US" sz="1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535424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" y="45171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event + high-value customer view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736592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49808" y="47183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&amp; user privileges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4709160" y="3383280"/>
            <a:ext cx="4160520" cy="157276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4709160" y="3383280"/>
            <a:ext cx="64008" cy="157276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4873752" y="3456432"/>
            <a:ext cx="402336" cy="40233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6048" y="3538728"/>
            <a:ext cx="237744" cy="23774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349240" y="345643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Skills</a:t>
            </a:r>
            <a:endParaRPr lang="en-US" sz="13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931920"/>
            <a:ext cx="182880" cy="18288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138928" y="39136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— last 90 days</a:t>
            </a:r>
            <a:endParaRPr lang="en-US" sz="10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4133088"/>
            <a:ext cx="182880" cy="1828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138928" y="411480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+ MoM growth %</a:t>
            </a:r>
            <a:endParaRPr lang="en-US" sz="10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4334256"/>
            <a:ext cx="182880" cy="18288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5138928" y="43159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 ranking</a:t>
            </a:r>
            <a:endParaRPr lang="en-US" sz="10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4535424"/>
            <a:ext cx="182880" cy="18288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5138928" y="45171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AOV &amp; revenue share</a:t>
            </a:r>
            <a:endParaRPr lang="en-US" sz="10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040" y="4736592"/>
            <a:ext cx="182880" cy="182880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5138928" y="47183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month</a:t>
            </a:r>
            <a:endParaRPr lang="en-US" sz="1000" dirty="0"/>
          </a:p>
        </p:txBody>
      </p:sp>
      <p:sp>
        <p:nvSpPr>
          <p:cNvPr id="55" name="Shape 37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>
              <a:gd name="adj" fmla="val 12500"/>
            </a:avLst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DATABASE DESIGN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normalised tables with enforced foreign key relationships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93852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0025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customers, join dates, CLV tracking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182880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78608" y="193852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0025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35808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60320" y="2377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orders with status &amp; timestamp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17720" y="182880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27448" y="193852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0025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09160" y="2377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line items linking orders &amp; products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182880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76288" y="193852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200253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3488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0" y="2377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products with category &amp; supplier FK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0040" y="324612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" y="335584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41985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86968" y="33375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11480" y="3794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amount &amp; status per order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468880" y="324612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578608" y="335584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616" y="341985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35808" y="33375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560320" y="3794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product ratings with comments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617720" y="324612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27448" y="335584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419856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84648" y="33375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709160" y="3794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fashion categories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766560" y="3246120"/>
            <a:ext cx="1965960" cy="123444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876288" y="3355848"/>
            <a:ext cx="384048" cy="38404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3419856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333488" y="33375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858000" y="3794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Nigerian city suppliers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Task 1 — Indexing for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69164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691640"/>
          </a:xfrm>
          <a:prstGeom prst="rect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859536"/>
            <a:ext cx="402336" cy="402336"/>
          </a:xfrm>
          <a:prstGeom prst="ellipse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418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859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335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Marketing reports join orders + customers on every run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16093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table scan (type: ALL) at 500+ orders per day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1883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Flash sales magnify this — every second counts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2157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ORDER BY total_amount caused costly filesort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777240"/>
            <a:ext cx="4160520" cy="169164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777240"/>
            <a:ext cx="64008" cy="16916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3752" y="859536"/>
            <a:ext cx="402336" cy="40233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94183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67528" y="859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1335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Composite index: order_date, total_amount, customer_id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92040" y="16093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EXPLAIN confirmed: type changed ALL → range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92040" y="1883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Index on customers for JOIN coverage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2157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Covering index on order_items for aggregations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20040" y="25786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Output — Before vs After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44368"/>
          <a:ext cx="8503920" cy="1755648"/>
        </p:xfrm>
        <a:graphic>
          <a:graphicData uri="http://schemas.openxmlformats.org/drawingml/2006/table">
            <a:tbl>
              <a:tblPr/>
              <a:tblGrid>
                <a:gridCol w="2194560"/>
                <a:gridCol w="3154680"/>
                <a:gridCol w="3154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(full table scan)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(index scan)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idx_orders_date_amount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examined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(all rows)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rows in 90-day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filesort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index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>
              <a:gd name="adj" fmla="val 12500"/>
            </a:avLst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INTEGRITY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Stored Procedure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743200" cy="34290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508760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591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08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trg_reduce_stock_on_order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1305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" y="210312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AFTER INSERT on order_items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7889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" y="2761488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parent order status = completed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44728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6656" y="34198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quantity from products.stock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10565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6656" y="40782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manual stock management errors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3154680" y="1417320"/>
            <a:ext cx="2743200" cy="34290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319272" y="1508760"/>
            <a:ext cx="475488" cy="475488"/>
          </a:xfrm>
          <a:prstGeom prst="ellipse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1591056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886200" y="1508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trg_restore_stock_on_cancel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2130552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02736" y="210312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AFTER UPDATE on orders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2788920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02736" y="2761488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when status: completed → cancelled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272" y="3447288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02736" y="34198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all items via multi-table UPDATE JOIN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9272" y="4105656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602736" y="40782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— all products updated in one statement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6080760" y="1417320"/>
            <a:ext cx="2743200" cy="34290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6245352" y="1508760"/>
            <a:ext cx="475488" cy="47548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1591056"/>
            <a:ext cx="310896" cy="31089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812280" y="1508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sp_cancel_order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5352" y="2130552"/>
            <a:ext cx="219456" cy="219456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528816" y="210312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START TRANSACTION … COMMIT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5352" y="2788920"/>
            <a:ext cx="219456" cy="21945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528816" y="2761488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HANDLER fires ROLLBACK on any error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5352" y="3447288"/>
            <a:ext cx="219456" cy="21945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528816" y="3419856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order + restores stock + fails payment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5352" y="4105656"/>
            <a:ext cx="219456" cy="219456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6528816" y="407822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success/error message via OUT param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228600" y="4754880"/>
            <a:ext cx="868680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If any step fails mid-transaction, the EXIT HANDLER fires a full ROLLBACK — the database never lands in a partial state.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Tasks 4 &amp; 5 — Automation &amp; Security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96596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686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509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8686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evt_daily_sales_summary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716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13533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night at 11:59 PM automatically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162763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Inserts: total revenue, order count, avg order value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2024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1901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DUPLICATE KEY UPDATE — idempotent &amp; safe to re-run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19456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event_scheduler = ON in MySQL config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320040" y="2852928"/>
            <a:ext cx="4160520" cy="201168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20040" y="2852928"/>
            <a:ext cx="64008" cy="201168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75488" y="2944368"/>
            <a:ext cx="402336" cy="40233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02666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29443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vw_high_value_customers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43814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3232" y="34198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customers with total_spent &gt; ₦150,000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712464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3232" y="36941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name, city, total spent, order count, AOV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3986784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13232" y="39684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customers → orders for live aggregation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4261104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13232" y="42428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marketing team for VIP campaign targeting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4663440" y="777240"/>
            <a:ext cx="4160520" cy="408736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4663440" y="777240"/>
            <a:ext cx="64008" cy="4087368"/>
          </a:xfrm>
          <a:prstGeom prst="rect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4818888" y="868680"/>
            <a:ext cx="402336" cy="402336"/>
          </a:xfrm>
          <a:prstGeom prst="ellipse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184" y="950976"/>
            <a:ext cx="237744" cy="23774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03520" y="8686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371600"/>
          <a:ext cx="393192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marketing_analyst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vw_high_value_customers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daily_sales_summary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36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36" name="Text 22"/>
          <p:cNvSpPr/>
          <p:nvPr/>
        </p:nvSpPr>
        <p:spPr>
          <a:xfrm>
            <a:off x="4773168" y="40416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— analysts read only what they need. Payment data remains fully protected.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24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>
              <a:gd name="adj" fmla="val 12500"/>
            </a:avLst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Analyst Queries — Business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645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1993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24140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SUM · GROUP BY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11680" y="146304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48840" y="157276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16459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87752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103120" y="1993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103120" y="24140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· LAG() · DATE_FORMAT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749040" y="146304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86200" y="157276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164592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25112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840480" y="1993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840480" y="24140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COUNT · AVG · ORDER BY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486400" y="146304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623560" y="157276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164592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62472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577840" y="1993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by Payment Method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577840" y="24140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OVER() · GROUP BY · ROUND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223760" y="146304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60920" y="157276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1645920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799832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7315200" y="1993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7315200" y="24140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· HAVING · Daily Run-Rate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74320" y="315468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11480" y="326440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337560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50392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365760" y="3685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365760" y="410565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· LEFT JOIN · COUNT ratio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2011680" y="315468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2148840" y="326440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" y="3337560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587752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2103120" y="3685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2103120" y="410565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· SUM OVER()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3749040" y="315468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3886200" y="326440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352" y="3337560"/>
            <a:ext cx="219456" cy="21945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325112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600" dirty="0"/>
          </a:p>
        </p:txBody>
      </p:sp>
      <p:sp>
        <p:nvSpPr>
          <p:cNvPr id="51" name="Text 41"/>
          <p:cNvSpPr/>
          <p:nvPr/>
        </p:nvSpPr>
        <p:spPr>
          <a:xfrm>
            <a:off x="3840480" y="3685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Products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3840480" y="410565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· COALESCE · 6m window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5486400" y="315468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5623560" y="326440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6712" y="3337560"/>
            <a:ext cx="219456" cy="219456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6062472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600" dirty="0"/>
          </a:p>
        </p:txBody>
      </p:sp>
      <p:sp>
        <p:nvSpPr>
          <p:cNvPr id="57" name="Text 46"/>
          <p:cNvSpPr/>
          <p:nvPr/>
        </p:nvSpPr>
        <p:spPr>
          <a:xfrm>
            <a:off x="5577840" y="3685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</a:t>
            </a:r>
            <a:endParaRPr lang="en-US" sz="950" dirty="0"/>
          </a:p>
        </p:txBody>
      </p:sp>
      <p:sp>
        <p:nvSpPr>
          <p:cNvPr id="58" name="Text 47"/>
          <p:cNvSpPr/>
          <p:nvPr/>
        </p:nvSpPr>
        <p:spPr>
          <a:xfrm>
            <a:off x="5577840" y="410565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· ROWS UNBOUNDED · LAG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7223760" y="3154680"/>
            <a:ext cx="1600200" cy="150876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7360920" y="326440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3337560"/>
            <a:ext cx="219456" cy="219456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7799832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600" dirty="0"/>
          </a:p>
        </p:txBody>
      </p:sp>
      <p:sp>
        <p:nvSpPr>
          <p:cNvPr id="63" name="Text 51"/>
          <p:cNvSpPr/>
          <p:nvPr/>
        </p:nvSpPr>
        <p:spPr>
          <a:xfrm>
            <a:off x="7315200" y="3685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950" dirty="0"/>
          </a:p>
        </p:txBody>
      </p:sp>
      <p:sp>
        <p:nvSpPr>
          <p:cNvPr id="64" name="Text 52"/>
          <p:cNvSpPr/>
          <p:nvPr/>
        </p:nvSpPr>
        <p:spPr>
          <a:xfrm>
            <a:off x="7315200" y="410565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cast · DATE_FORMAT · DESC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Findings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26280" y="777240"/>
          <a:ext cx="42976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246120"/>
            <a:ext cx="1993392" cy="166420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3246120"/>
            <a:ext cx="64008" cy="16642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33756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331927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84632" y="3712464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Denim Shirt 19 leads with highest order frequency. Classic Sneakers 8 tops revenue contribution.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2496312" y="3246120"/>
            <a:ext cx="1993392" cy="166420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496312" y="3246120"/>
            <a:ext cx="64008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333756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99232" y="331927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Signal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2660904" y="3712464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customer cohort analysis reveals repeat purchase patterns — foundation for loyalty programme.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72584" y="3246120"/>
            <a:ext cx="1993392" cy="166420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672584" y="3246120"/>
            <a:ext cx="64008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333756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75504" y="331927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Risk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837176" y="3712464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products show zero sales in 6-month window — candidates for clearance or promotion campaigns.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848856" y="3246120"/>
            <a:ext cx="1993392" cy="1664208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848856" y="3246120"/>
            <a:ext cx="64008" cy="1664208"/>
          </a:xfrm>
          <a:prstGeom prst="rect">
            <a:avLst/>
          </a:prstGeom>
          <a:solidFill>
            <a:srgbClr val="E03636"/>
          </a:solidFill>
          <a:ln w="12700">
            <a:solidFill>
              <a:srgbClr val="E0363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8" y="333756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51776" y="331927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Trend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013448" y="3712464"/>
            <a:ext cx="1719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cancellation rate query surfaces peak cancellation months for operational review.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>
              <a:gd name="adj" fmla="val 12500"/>
            </a:avLst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METHODOLOGY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naijafashion-db/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1854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schema/ecommerce_db.sql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learning/  ← frozen, never edited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80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project/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01_indexes.sql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112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02_triggers.sql … 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rollback/  ← undo each step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outputs/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306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explain_before.txt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5720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explain_after.txt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837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query_results/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417320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48132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4721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Schema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167335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ecommerce_db.sql loaded fresh into naijafashion_project 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1993392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2057400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Script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224942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authored with USE naijafashion_project at top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43400" y="2569464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2633472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Rollback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8254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DROP script written before executing anything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3145536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3209544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32004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Verify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340156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Workbench, check Output panel for green ticks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43400" y="3721608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3785616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3776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Evidence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37760" y="397764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and query CSVs exported to outputs/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43400" y="4297680"/>
            <a:ext cx="4526280" cy="5029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4361688"/>
            <a:ext cx="365760" cy="3657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4361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37760" y="43525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README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37760" y="455371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log updated with status, issues, and fixes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411480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686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509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8686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7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1399032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vs. flow control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31520" y="16184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only works inside loops — used boolean flag v_done to exit stored procedure cleanly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75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2057400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CURRENT_DATE vs. data range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31520" y="227685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is 2024–2025; replaced CURRENT_DATE with anchor date '2025-03-31' across all time-window queries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34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271576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731520" y="293522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query thresholds adjusted to match dataset size — documented with production equivalents in README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9242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3374136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before you run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731520" y="359359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rollback file before executing any step prevents scrambling to recall object names under pressure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50792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" y="4032504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 critically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731520" y="425196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results mean a logic or data issue, not always a syntax error — EXPLAIN and diagnostic SELECTs reveal the root cause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663440" y="777240"/>
            <a:ext cx="4160520" cy="411480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663440" y="777240"/>
            <a:ext cx="64008" cy="41148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818888" y="868680"/>
            <a:ext cx="402336" cy="402336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950976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03520" y="8686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141732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74920" y="1399032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5074920" y="16184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project in PostgreSQL to compare syntax, performance, and feature differences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207568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74920" y="2057400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reporting dashboard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5074920" y="227685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database to Power BI or Metabase to visualise the 10 analyst queries in real time</a:t>
            </a:r>
            <a:endParaRPr lang="en-US" sz="9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2734056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74920" y="271576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realistic dataset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5074920" y="293522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10,000+ rows using Mockaroo or Faker to test indexes and triggers under realistic load</a:t>
            </a:r>
            <a:endParaRPr lang="en-US" sz="9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3392424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074920" y="3374136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strategy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5074920" y="359359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table partitioning on orders by year-month for faster time-range queries at scale</a:t>
            </a:r>
            <a:endParaRPr lang="en-US" sz="9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8888" y="4050792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074920" y="4032504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schema changes</a:t>
            </a:r>
            <a:endParaRPr lang="en-US" sz="1050" dirty="0"/>
          </a:p>
        </p:txBody>
      </p:sp>
      <p:sp>
        <p:nvSpPr>
          <p:cNvPr id="43" name="Text 29"/>
          <p:cNvSpPr/>
          <p:nvPr/>
        </p:nvSpPr>
        <p:spPr>
          <a:xfrm>
            <a:off x="5074920" y="425196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Flyway or Liquibase for version-controlled, automated schema migrations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NaijaFashion Database Project — Complete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2103120" cy="41148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DBA Objects Built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2103120" cy="41148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Analyst Queries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468880"/>
            <a:ext cx="2103120" cy="41148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Rollback Coverage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database roles, data engineering opportunities, and freelance projects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Workbench  ·  DBA &amp; Data Analyst Stack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Best-Selling Products — Last 90 Days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products are driving the most volume and revenue in the most recent sales window.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67665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97864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84832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73552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62272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5 products moved the most units recently?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revenue did each of those products generate?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stock remains — are any at risk of selling out?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order_items → orders → products across 3 tables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SUM(oi.quantity) for units; SUM(qty × price) for revenue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to completed orders in 90-day window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total_units_sold DESC then LIMIT 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Anchor date set to '2025-03-31' — CURRENT_DATE returns empty results because sample data ends in March 2025.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2024 &amp; 2025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revenue month by month and calculates how growth rate changes over time without a self-join.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158191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202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75888" y="1920240"/>
            <a:ext cx="178308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68696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monthly revenue growing, flat, or declining?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 saw the highest MoM growth percentage?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2025 compare to the same months in 2024?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aggregates total revenue + order count per month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LAG(total_revenue) OVER (ORDER BY month) fetches prior month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- prior) / NULLIF(prior, 0) * 100 = growth 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 prevents division-by-zero on first month row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LAG() eliminates the need for a self-join — cleaner, more readable, and executes in a single pass over the data.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Lifetime Value (CLV)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customers by total spend to identify VIP accounts for retention campaigns and personalised outreach.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67665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97864" y="1920240"/>
            <a:ext cx="97840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920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61688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10 highest-spending customers overall?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has each placed — volume vs. value?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each customer's average order value?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customers → orders on customer_id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COUNT(order_id) for order frequency per customer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AVG(total_amount) for average spend per transaction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c.total_spent DESC — pre-computed column for speed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Sorting on the pre-computed total_spent column avoids re-aggregating on every query run — critical for large customer tables.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&amp; Revenue % by Payment Method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payment methods drive the most revenue and whether AOV differs significantly across methods.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48132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02536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2536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9504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78224" y="1920240"/>
            <a:ext cx="97840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78224" y="1920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920240"/>
            <a:ext cx="178308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 has the highest average order value?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revenue does each method contribute?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any payment method be promoted or prioritised?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payment_method on the payments table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AVG(amount) per group for AOV per method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SUM(pm.amount) / SUM(SUM()) OVER() * 100 for revenue 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OVER() without PARTITION computes grand total in one pass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SUM() OVER() computes the denominator (grand total) in the same query pass — no subquery or second table scan needed.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Low-Stock, High-Demand Product Alert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products that are selling fast but running low on stock — the early warning system for stockouts.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877824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2024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84832" y="1920240"/>
            <a:ext cx="67665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920240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71216" y="1920240"/>
            <a:ext cx="97840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920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59352" y="1920240"/>
            <a:ext cx="168249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935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Run-Rate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selling fast AND running low on stock?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of stock remain at the current sales rate?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need urgent restocking before the next sale?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filters products with &gt; 5 units sold in 60-day window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applied post-GROUP BY to filter by sales threshold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 adds WHERE p.stock &lt; 50 for low-stock filter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= stock ÷ (units_sold_60d ÷ 60) — daily run-rate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Thresholds relaxed from (&gt;15 units, stock &lt;10) to (&gt;5, stock &lt;50) for sample data — production thresholds documented in README.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— 2024 Cohort Active in 2025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customers acquired in 2024 returned to make at least one purchase in 2025.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920240"/>
            <a:ext cx="117957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920240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75304" y="1920240"/>
            <a:ext cx="97840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920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1380744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20240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2024 joiners placed an order in 2025?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the 2024 cohort is still active?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retaining customers or relying on new acquisition?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1: isolates all customers who joined in 2024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2: DISTINCT customer_ids with orders in 2025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JOIN: matches 2024 joiners against 2025 buyers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COUNT(active) / COUNT(total) * 100 = retention percentage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LEFT JOIN preserves all 2024 joiners in the denominator — even those who never returned — giving an accurate retention rate, not an inflated one.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 — Ranked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all 8 fashion categories by total revenue generated to guide marketing budget and inventory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58191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920240"/>
            <a:ext cx="148132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9202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94176" y="1920240"/>
            <a:ext cx="1883664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92024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87568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76288" y="1920240"/>
            <a:ext cx="117957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1920240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category generates the most revenue?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total revenue does each category hold?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are underperforming relative to their range size?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JOIN: order_items → products → categories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(ORDER BY SUM DESC) assigns revenue rank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 computes grand total for the percentage column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completed orders only — cancelled orders excluded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RANK() and SUM() OVER() run in the same SELECT — no subquery needed. Two window functions, one pass, clean output.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Products — Under 5 Units in 6 Months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products with little or no sales movement — candidates for promotions, markdowns, or discontinuation.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17957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00784" y="1920240"/>
            <a:ext cx="128016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0784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90672" y="1920240"/>
            <a:ext cx="57607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920240"/>
            <a:ext cx="576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76472" y="1920240"/>
            <a:ext cx="168249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Window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68696" y="1920240"/>
            <a:ext cx="158191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19202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have barely sold in the last 6 months?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each product last record a sale?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dead stock is currently sitting in the warehouse?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aggregates sales per product within the 6-month window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ensures products with zero sales still appear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COALESCE(total_units_sold, 0) converts NULL to 0 safely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COALESCE(...) &lt; 5 filters to slow movers only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7 products returned with NULL last_sale_date — zero sales in the entire window. These are genuine dead stock candidates for clearance pricing.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&amp; Fastest to ₦200,000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running total of spend per customer over time and identifies who reached ₦200k lifetime value fastest.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48132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02536" y="1920240"/>
            <a:ext cx="2688336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2536" y="19202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UNBOUNDED PRECEDING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920240"/>
            <a:ext cx="77724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87568" y="1920240"/>
            <a:ext cx="128016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77456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customer's cumulative spending curve look like?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crossed ₦200,000 lifetime value first?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from joining did they take to reach that milestone?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 (PARTITION BY customer ORDER BY date ROWS UNBOUNDED) = running total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LAG(cumulative) detects the exact row where ₦200k is crossed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filters WHERE cum &gt;= 200k AND prev_cum &lt; 200k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DATEDIFF(reached_date, join_date) measures days to milestone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ROWS UNBOUNDED PRECEDING is explicit and safer than the default RANGE — it counts exact row positions, not value ranges, avoiding unexpected grouping.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7498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Cancellation Rate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order cancellations month by month to surface operational patterns and identify problem periods.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158191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920240"/>
            <a:ext cx="1783080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bool cast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95928" y="1920240"/>
            <a:ext cx="978408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1920240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84064" y="1920240"/>
            <a:ext cx="107899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19202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1581912" cy="27432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920240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DESC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64008" cy="25146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" y="2834640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orders are cancelled each month?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310128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 had the highest cancellation rate?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" y="3785616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cancellation rate trending up, down, or staying flat?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4069080" cy="2514600"/>
          </a:xfrm>
          <a:prstGeom prst="rect">
            <a:avLst/>
          </a:prstGeom>
          <a:solidFill>
            <a:srgbClr val="26337A"/>
          </a:solidFill>
          <a:ln w="12700">
            <a:solidFill>
              <a:srgbClr val="3A4D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31720"/>
            <a:ext cx="64008" cy="2514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4048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Breakdown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283464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DATE_FORMAT(order_date, '%Y-%m') groups all orders by month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1012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28269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SUM(status = 'cancelled') uses MySQL bool→int cast (1 or 0)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75818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 = cancelled / total * 100 per month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4261104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23367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cancellation_pct DESC surfaces worst month first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SUM(status = 'cancelled') is a concise MySQL-native conditional aggregate — cleaner than CASE WHEN and functionally identical.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7548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NaijaFashion DB Project Defense</dc:title>
  <dc:subject>PptxGenJS Presentation</dc:subject>
  <dc:creator>NaijaFashion DBA</dc:creator>
  <cp:lastModifiedBy>NaijaFashion DBA</cp:lastModifiedBy>
  <cp:revision>1</cp:revision>
  <dcterms:created xsi:type="dcterms:W3CDTF">2026-04-08T10:28:23Z</dcterms:created>
  <dcterms:modified xsi:type="dcterms:W3CDTF">2026-04-08T10:28:23Z</dcterms:modified>
</cp:coreProperties>
</file>